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8" r:id="rId2"/>
    <p:sldId id="260" r:id="rId3"/>
    <p:sldId id="257" r:id="rId4"/>
    <p:sldId id="259" r:id="rId5"/>
    <p:sldId id="261" r:id="rId6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4" d="100"/>
          <a:sy n="74" d="100"/>
        </p:scale>
        <p:origin x="2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20932-848F-BDE3-1E86-EB1CE0EDF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F2AA38-2125-2123-96BC-2A5FAF0DC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2050C6-0CD4-7267-E46F-3031354FD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1904-811B-4082-9415-52CF70847F05}" type="datetimeFigureOut">
              <a:rPr lang="zh-SG" altLang="en-US" smtClean="0"/>
              <a:t>29/4/2026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EE4791-8E89-D00A-DCF8-BF308041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060BF-57F8-7FEA-68BA-7FDCFF8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5891-FF8A-4D41-A665-4C9A88194A0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360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8D555-8CF3-A6C4-8206-E26CCB4A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0E6EB0-A71A-F865-60DA-A97314DDA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375745-2B21-7636-1F3C-2A70FF77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1904-811B-4082-9415-52CF70847F05}" type="datetimeFigureOut">
              <a:rPr lang="zh-SG" altLang="en-US" smtClean="0"/>
              <a:t>29/4/2026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EB5364-25DE-FBFA-CD77-D4C6067DE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AB5190-D346-C83F-B37B-DB68218D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5891-FF8A-4D41-A665-4C9A88194A0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762068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CB7D9-96B1-738F-139B-7EFD607AA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E1111F-D265-8DC3-C858-AFFAE7134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9DE3EC-9F50-05B5-5C60-E594E3CFC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1904-811B-4082-9415-52CF70847F05}" type="datetimeFigureOut">
              <a:rPr lang="zh-SG" altLang="en-US" smtClean="0"/>
              <a:t>29/4/2026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0DAF72-F715-692F-599F-89BCAE7D3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A3B8EE-8AE8-93AB-98BB-7024AF22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5891-FF8A-4D41-A665-4C9A88194A0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079556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1BB0A6-5B7D-766B-F2A5-8E7ECFF46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A5C212-0A5D-DB00-8B21-B7060FE05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90138F-9A9C-FADA-BCEC-5254A200B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BEF83F-06A0-B12E-3921-AD307CCFC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1904-811B-4082-9415-52CF70847F05}" type="datetimeFigureOut">
              <a:rPr lang="zh-SG" altLang="en-US" smtClean="0"/>
              <a:t>29/4/2026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530A75-B932-E4F5-1C32-A106AC59E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202259-FC03-A6EB-6A7E-5E506967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5891-FF8A-4D41-A665-4C9A88194A0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78227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9D9CE-3044-35FE-0B21-E50BA1FCD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B95E6D-BC41-1765-88B6-B69362AE3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EA27CE-0BC5-A96D-29D8-3F19A6D76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B96D11-6D6A-43A4-2257-8DC032260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AC38D9-3456-1651-5783-C667D73BB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8DD96E-3923-5A5E-87E9-567D69C3C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1904-811B-4082-9415-52CF70847F05}" type="datetimeFigureOut">
              <a:rPr lang="zh-SG" altLang="en-US" smtClean="0"/>
              <a:t>29/4/2026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1BB3B2-8D80-EEBF-655B-7AA27C480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F544C1-15FC-A2C3-ED56-F738A64F4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5891-FF8A-4D41-A665-4C9A88194A0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88208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9D4B6-BF84-2B48-A561-CFEC9F240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2E9BE8-BAD8-B60F-8955-803038DD0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1904-811B-4082-9415-52CF70847F05}" type="datetimeFigureOut">
              <a:rPr lang="zh-SG" altLang="en-US" smtClean="0"/>
              <a:t>29/4/2026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B0AE7B-8C48-BAE2-E412-06E660F22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B1364C-D641-88D6-7447-4F22BB769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5891-FF8A-4D41-A665-4C9A88194A0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60548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3A498B-8877-96EF-E943-E03F543A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1904-811B-4082-9415-52CF70847F05}" type="datetimeFigureOut">
              <a:rPr lang="zh-SG" altLang="en-US" smtClean="0"/>
              <a:t>29/4/2026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975135-974E-AB78-F4D9-8F180B126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7356B0-7618-8483-0EA2-A2A9A25F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5891-FF8A-4D41-A665-4C9A88194A0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89756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D63ED3-AF8C-F398-C896-C0860347E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EDE7F7-0B2D-F512-D7A2-C5B4BC309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30456F-E167-B85A-DFFF-CCABCDAD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7C6538-4A3B-FB06-AD59-0FA69A1FE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1904-811B-4082-9415-52CF70847F05}" type="datetimeFigureOut">
              <a:rPr lang="zh-SG" altLang="en-US" smtClean="0"/>
              <a:t>29/4/2026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73D2AE-57B8-3DD0-311D-E14FB0807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026DD9-F44B-B1C0-B285-C0DE441E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5891-FF8A-4D41-A665-4C9A88194A0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83238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E42DF4-2557-0BAD-A418-A28630BF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6B74A1-FE1F-CE70-81DC-8990E1E773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58ABD8-4F1F-3226-0B8F-5988B27C5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5C73C1-64B5-24A0-1C0D-D78BF04AE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1904-811B-4082-9415-52CF70847F05}" type="datetimeFigureOut">
              <a:rPr lang="zh-SG" altLang="en-US" smtClean="0"/>
              <a:t>29/4/2026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358020-6861-359C-BD65-B3D89098F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8E5992-6FD6-73CD-70BE-62CAEC4F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5891-FF8A-4D41-A665-4C9A88194A0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375514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0B81E-0A0C-02C6-6692-34537D6B0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074F52-4C78-0D57-7349-20F767C29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166791-B0C8-6D30-B639-CE8BEB690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1904-811B-4082-9415-52CF70847F05}" type="datetimeFigureOut">
              <a:rPr lang="zh-SG" altLang="en-US" smtClean="0"/>
              <a:t>29/4/2026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598064-611A-BE0E-F1E8-3CF213B1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5D63A2-F818-01B0-8F98-83BCD5800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5891-FF8A-4D41-A665-4C9A88194A0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27949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E2EF35-CE7A-85BB-8327-CF37E0C19F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7AC08C-0A6C-521C-48D1-87A99C31C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F7842D-F030-DB22-763B-8E1E1D3DC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A1904-811B-4082-9415-52CF70847F05}" type="datetimeFigureOut">
              <a:rPr lang="zh-SG" altLang="en-US" smtClean="0"/>
              <a:t>29/4/2026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BC7BC6-6588-D44D-5C4F-ADBAE84E8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EC9A2E-7454-3DCC-F20A-11541CC1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5891-FF8A-4D41-A665-4C9A88194A0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00385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61F2BF5-2989-9134-0D77-3C98614D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3FACDE-8190-AA81-41DB-5A92826AC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F5C318-5EDF-8FA7-3BAB-AC04C2EFB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A1904-811B-4082-9415-52CF70847F05}" type="datetimeFigureOut">
              <a:rPr lang="zh-SG" altLang="en-US" smtClean="0"/>
              <a:t>29/4/2026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43FA73-8E04-9E70-DBE3-8509D6B8F4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867F06-F108-B262-56D2-85877454C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B5891-FF8A-4D41-A665-4C9A88194A0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407128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image" Target="../media/image8.emf"/><Relationship Id="rId3" Type="http://schemas.openxmlformats.org/officeDocument/2006/relationships/image" Target="../media/image2.svg"/><Relationship Id="rId7" Type="http://schemas.openxmlformats.org/officeDocument/2006/relationships/oleObject" Target="../embeddings/oleObject2.bin"/><Relationship Id="rId12" Type="http://schemas.openxmlformats.org/officeDocument/2006/relationships/oleObject" Target="../embeddings/oleObject4.bin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11" Type="http://schemas.openxmlformats.org/officeDocument/2006/relationships/image" Target="../media/image7.emf"/><Relationship Id="rId5" Type="http://schemas.openxmlformats.org/officeDocument/2006/relationships/image" Target="../media/image3.emf"/><Relationship Id="rId10" Type="http://schemas.openxmlformats.org/officeDocument/2006/relationships/oleObject" Target="../embeddings/oleObject3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3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6.svg"/><Relationship Id="rId4" Type="http://schemas.openxmlformats.org/officeDocument/2006/relationships/image" Target="../media/image1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9F4EC-55AD-5E86-F103-0A682F9B83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上海地铁</a:t>
            </a:r>
            <a:r>
              <a:rPr lang="en-US" altLang="zh-CN" dirty="0"/>
              <a:t>2025</a:t>
            </a:r>
            <a:r>
              <a:rPr lang="zh-CN" altLang="en-US" dirty="0"/>
              <a:t>版线路号方块</a:t>
            </a:r>
            <a:endParaRPr lang="zh-SG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EFE066A-FD76-20C5-86DD-36C8970DCA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SG" dirty="0"/>
              <a:t>By Umamichi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4281291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83B96-27CB-EEBB-959B-6476D5D50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8FE12C-14A7-6EA6-BCDB-BC997FCD7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如果没有特别说明，那么</a:t>
            </a:r>
            <a:r>
              <a:rPr lang="en-US" altLang="zh-CN" dirty="0"/>
              <a:t>《</a:t>
            </a:r>
            <a:r>
              <a:rPr lang="zh-CN" altLang="en-US" dirty="0"/>
              <a:t>标准草案</a:t>
            </a:r>
            <a:r>
              <a:rPr lang="en-US" altLang="zh-CN" dirty="0"/>
              <a:t>》</a:t>
            </a:r>
            <a:r>
              <a:rPr lang="zh-CN" altLang="en-US" dirty="0"/>
              <a:t>指的是上海市</a:t>
            </a:r>
            <a:r>
              <a:rPr lang="en-US" altLang="zh-CN" dirty="0"/>
              <a:t>《</a:t>
            </a:r>
            <a:r>
              <a:rPr lang="zh-CN" altLang="en-US" dirty="0"/>
              <a:t>城市轨道交通导向标识系统设计规范（征求意见稿）</a:t>
            </a:r>
            <a:r>
              <a:rPr lang="en-US" altLang="zh-CN" dirty="0"/>
              <a:t>》</a:t>
            </a:r>
            <a:r>
              <a:rPr lang="zh-CN" altLang="en-US" dirty="0"/>
              <a:t>（</a:t>
            </a:r>
            <a:r>
              <a:rPr lang="en-US" altLang="zh-CN" dirty="0"/>
              <a:t>2025</a:t>
            </a:r>
            <a:r>
              <a:rPr lang="zh-CN" altLang="en-US" dirty="0"/>
              <a:t>）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4138628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形 19">
            <a:extLst>
              <a:ext uri="{FF2B5EF4-FFF2-40B4-BE49-F238E27FC236}">
                <a16:creationId xmlns:a16="http://schemas.microsoft.com/office/drawing/2014/main" id="{5F1C6ABF-1879-7008-C0C4-7084A203E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34371" y="1690688"/>
            <a:ext cx="809625" cy="9525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1030DF0-15D1-6AC4-4B14-3734EADA7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(1) 9&amp;15 from </a:t>
            </a:r>
            <a:r>
              <a:rPr lang="zh-CN" altLang="en-US" dirty="0"/>
              <a:t>市域机场线线路图</a:t>
            </a:r>
            <a:endParaRPr lang="zh-SG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6470BCB4-91CF-8F2C-7564-52FFC1AC5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661" y="1690688"/>
            <a:ext cx="3000375" cy="952500"/>
          </a:xfrm>
          <a:prstGeom prst="rect">
            <a:avLst/>
          </a:prstGeom>
        </p:spPr>
      </p:pic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18488C53-8282-45CE-F242-D7A861C5DA68}"/>
              </a:ext>
            </a:extLst>
          </p:cNvPr>
          <p:cNvSpPr/>
          <p:nvPr/>
        </p:nvSpPr>
        <p:spPr>
          <a:xfrm>
            <a:off x="1239564" y="3095297"/>
            <a:ext cx="1311166" cy="952500"/>
          </a:xfrm>
          <a:prstGeom prst="wedgeRoundRectCallout">
            <a:avLst>
              <a:gd name="adj1" fmla="val -26845"/>
              <a:gd name="adj2" fmla="val -6715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33FFE65-0C13-82E8-7EC7-C07DA62314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223539"/>
              </p:ext>
            </p:extLst>
          </p:nvPr>
        </p:nvGraphicFramePr>
        <p:xfrm>
          <a:off x="1571297" y="3314372"/>
          <a:ext cx="647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4" imgW="647756" imgH="514163" progId="Package">
                  <p:embed/>
                </p:oleObj>
              </mc:Choice>
              <mc:Fallback>
                <p:oleObj name="包装程序外壳对象" showAsIcon="1" r:id="rId4" imgW="647756" imgH="51416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71297" y="3314372"/>
                        <a:ext cx="6477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形 7">
            <a:extLst>
              <a:ext uri="{FF2B5EF4-FFF2-40B4-BE49-F238E27FC236}">
                <a16:creationId xmlns:a16="http://schemas.microsoft.com/office/drawing/2014/main" id="{078FFAF0-50CC-195D-2B97-5094A35F4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6422" y="1690688"/>
            <a:ext cx="3000375" cy="952500"/>
          </a:xfrm>
          <a:prstGeom prst="rect">
            <a:avLst/>
          </a:prstGeom>
        </p:spPr>
      </p:pic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0EAFE5C3-A329-CF33-13A6-5A3849005BA5}"/>
              </a:ext>
            </a:extLst>
          </p:cNvPr>
          <p:cNvSpPr/>
          <p:nvPr/>
        </p:nvSpPr>
        <p:spPr>
          <a:xfrm>
            <a:off x="4625443" y="3095297"/>
            <a:ext cx="1311166" cy="952500"/>
          </a:xfrm>
          <a:prstGeom prst="wedgeRoundRectCallout">
            <a:avLst>
              <a:gd name="adj1" fmla="val -26845"/>
              <a:gd name="adj2" fmla="val -6715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8FA7FC1-B752-0E2D-1F15-FCC82C31C4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505599"/>
              </p:ext>
            </p:extLst>
          </p:nvPr>
        </p:nvGraphicFramePr>
        <p:xfrm>
          <a:off x="4714288" y="3314372"/>
          <a:ext cx="11334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7" imgW="1133322" imgH="514163" progId="Package">
                  <p:embed/>
                </p:oleObj>
              </mc:Choice>
              <mc:Fallback>
                <p:oleObj name="包装程序外壳对象" showAsIcon="1" r:id="rId7" imgW="1133322" imgH="51416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14288" y="3314372"/>
                        <a:ext cx="11334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形 13">
            <a:extLst>
              <a:ext uri="{FF2B5EF4-FFF2-40B4-BE49-F238E27FC236}">
                <a16:creationId xmlns:a16="http://schemas.microsoft.com/office/drawing/2014/main" id="{B1FE7BB5-63DF-0EB0-EA29-DE3B9D2BE3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95173" y="1690688"/>
            <a:ext cx="952500" cy="952500"/>
          </a:xfrm>
          <a:prstGeom prst="rect">
            <a:avLst/>
          </a:prstGeom>
        </p:spPr>
      </p:pic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E5A0D32D-59BF-BF04-BFC2-A5A9C9B5517E}"/>
              </a:ext>
            </a:extLst>
          </p:cNvPr>
          <p:cNvSpPr/>
          <p:nvPr/>
        </p:nvSpPr>
        <p:spPr>
          <a:xfrm>
            <a:off x="7834371" y="3095297"/>
            <a:ext cx="1311166" cy="952500"/>
          </a:xfrm>
          <a:prstGeom prst="wedgeRoundRectCallout">
            <a:avLst>
              <a:gd name="adj1" fmla="val -26845"/>
              <a:gd name="adj2" fmla="val -6715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2B4D79F7-D3C6-2954-1034-07F2C67CD0CF}"/>
              </a:ext>
            </a:extLst>
          </p:cNvPr>
          <p:cNvSpPr/>
          <p:nvPr/>
        </p:nvSpPr>
        <p:spPr>
          <a:xfrm>
            <a:off x="9995173" y="3095297"/>
            <a:ext cx="1311166" cy="952500"/>
          </a:xfrm>
          <a:prstGeom prst="wedgeRoundRectCallout">
            <a:avLst>
              <a:gd name="adj1" fmla="val -26845"/>
              <a:gd name="adj2" fmla="val -6715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BDD2065D-533A-00A0-3D56-92360B149D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365405"/>
              </p:ext>
            </p:extLst>
          </p:nvPr>
        </p:nvGraphicFramePr>
        <p:xfrm>
          <a:off x="10431681" y="3314372"/>
          <a:ext cx="4381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10" imgW="438011" imgH="514163" progId="Package">
                  <p:embed/>
                </p:oleObj>
              </mc:Choice>
              <mc:Fallback>
                <p:oleObj name="包装程序外壳对象" showAsIcon="1" r:id="rId10" imgW="438011" imgH="51416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431681" y="3314372"/>
                        <a:ext cx="4381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09EF1AAF-1FAA-F62B-4FAD-5C78CFEBC6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000958"/>
              </p:ext>
            </p:extLst>
          </p:nvPr>
        </p:nvGraphicFramePr>
        <p:xfrm>
          <a:off x="8299454" y="3314372"/>
          <a:ext cx="3810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12" imgW="380944" imgH="514163" progId="Package">
                  <p:embed/>
                </p:oleObj>
              </mc:Choice>
              <mc:Fallback>
                <p:oleObj name="包装程序外壳对象" showAsIcon="1" r:id="rId12" imgW="380944" imgH="51416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299454" y="3314372"/>
                        <a:ext cx="3810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对话气泡: 圆角矩形 21">
            <a:extLst>
              <a:ext uri="{FF2B5EF4-FFF2-40B4-BE49-F238E27FC236}">
                <a16:creationId xmlns:a16="http://schemas.microsoft.com/office/drawing/2014/main" id="{D071ECE5-0FE2-2BD6-2831-BECD3DB15427}"/>
              </a:ext>
            </a:extLst>
          </p:cNvPr>
          <p:cNvSpPr/>
          <p:nvPr/>
        </p:nvSpPr>
        <p:spPr>
          <a:xfrm>
            <a:off x="7436797" y="4847816"/>
            <a:ext cx="3666399" cy="1325563"/>
          </a:xfrm>
          <a:prstGeom prst="wedgeRoundRectCallout">
            <a:avLst>
              <a:gd name="adj1" fmla="val 33331"/>
              <a:gd name="adj2" fmla="val -9164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这里的字距是 </a:t>
            </a:r>
            <a:r>
              <a:rPr lang="en-US" altLang="zh-CN" dirty="0">
                <a:solidFill>
                  <a:schemeClr val="tx1"/>
                </a:solidFill>
              </a:rPr>
              <a:t>-9.00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但</a:t>
            </a:r>
            <a:r>
              <a:rPr lang="en-US" altLang="zh-CN" dirty="0">
                <a:solidFill>
                  <a:schemeClr val="tx1"/>
                </a:solidFill>
              </a:rPr>
              <a:t>《</a:t>
            </a:r>
            <a:r>
              <a:rPr lang="zh-CN" altLang="en-US" dirty="0">
                <a:solidFill>
                  <a:schemeClr val="tx1"/>
                </a:solidFill>
              </a:rPr>
              <a:t>标准草案</a:t>
            </a:r>
            <a:r>
              <a:rPr lang="en-US" altLang="zh-CN" dirty="0">
                <a:solidFill>
                  <a:schemeClr val="tx1"/>
                </a:solidFill>
              </a:rPr>
              <a:t>》</a:t>
            </a:r>
            <a:r>
              <a:rPr lang="zh-CN" altLang="en-US" dirty="0">
                <a:solidFill>
                  <a:schemeClr val="tx1"/>
                </a:solidFill>
              </a:rPr>
              <a:t>插图里的字距似乎更可能是 </a:t>
            </a:r>
            <a:r>
              <a:rPr lang="en-US" altLang="zh-CN" dirty="0">
                <a:solidFill>
                  <a:schemeClr val="tx1"/>
                </a:solidFill>
              </a:rPr>
              <a:t>-10.00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我们暂取 </a:t>
            </a:r>
            <a:r>
              <a:rPr lang="en-US" altLang="zh-CN" dirty="0">
                <a:solidFill>
                  <a:schemeClr val="tx1"/>
                </a:solidFill>
              </a:rPr>
              <a:t>-10.00</a:t>
            </a:r>
            <a:endParaRPr lang="zh-SG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397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EBEAE-439A-3D49-61D2-7DE62C42A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(2) </a:t>
            </a:r>
            <a:r>
              <a:rPr lang="zh-CN" altLang="en-US" dirty="0"/>
              <a:t>对照</a:t>
            </a:r>
            <a:r>
              <a:rPr lang="en-US" altLang="zh-CN" dirty="0"/>
              <a:t>《</a:t>
            </a:r>
            <a:r>
              <a:rPr lang="zh-CN" altLang="en-US" dirty="0"/>
              <a:t>标准草案</a:t>
            </a:r>
            <a:r>
              <a:rPr lang="en-US" altLang="zh-CN" dirty="0"/>
              <a:t>》</a:t>
            </a:r>
            <a:r>
              <a:rPr lang="zh-CN" altLang="en-US" dirty="0"/>
              <a:t>文稿插图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117F24-8C7A-3AA2-D46A-1FE9BFF2F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09833"/>
          </a:xfrm>
        </p:spPr>
        <p:txBody>
          <a:bodyPr/>
          <a:lstStyle/>
          <a:p>
            <a:r>
              <a:rPr lang="zh-CN" altLang="en-US" dirty="0"/>
              <a:t>上一页有提到</a:t>
            </a:r>
            <a:r>
              <a:rPr lang="en-US" altLang="zh-CN" dirty="0"/>
              <a:t>1x</a:t>
            </a:r>
            <a:r>
              <a:rPr lang="zh-CN" altLang="en-US" dirty="0"/>
              <a:t>的字距更接近</a:t>
            </a:r>
            <a:r>
              <a:rPr lang="en-US" altLang="zh-CN" dirty="0"/>
              <a:t>-10.00</a:t>
            </a:r>
            <a:r>
              <a:rPr lang="zh-CN" altLang="en-US" dirty="0"/>
              <a:t>而不是</a:t>
            </a:r>
            <a:r>
              <a:rPr lang="en-US" altLang="zh-CN" dirty="0"/>
              <a:t>-9.00</a:t>
            </a:r>
          </a:p>
          <a:p>
            <a:r>
              <a:rPr lang="zh-CN" altLang="en-US" dirty="0"/>
              <a:t>标准的总体偏下一点</a:t>
            </a:r>
            <a:endParaRPr lang="zh-SG" altLang="en-US" dirty="0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C8C6025E-5254-9168-411C-299281E4C7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2306" y="3608753"/>
            <a:ext cx="1066800" cy="2276475"/>
          </a:xfrm>
          <a:prstGeom prst="rect">
            <a:avLst/>
          </a:prstGeom>
        </p:spPr>
      </p:pic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77717C96-2C26-C939-A368-0BD9805DC215}"/>
              </a:ext>
            </a:extLst>
          </p:cNvPr>
          <p:cNvSpPr/>
          <p:nvPr/>
        </p:nvSpPr>
        <p:spPr>
          <a:xfrm>
            <a:off x="2613212" y="3490203"/>
            <a:ext cx="1311166" cy="952500"/>
          </a:xfrm>
          <a:prstGeom prst="wedgeRoundRectCallout">
            <a:avLst>
              <a:gd name="adj1" fmla="val -62228"/>
              <a:gd name="adj2" fmla="val 18963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F289363-22CC-1D57-0725-C5C9842A88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031755"/>
              </p:ext>
            </p:extLst>
          </p:nvPr>
        </p:nvGraphicFramePr>
        <p:xfrm>
          <a:off x="3078295" y="3709278"/>
          <a:ext cx="3810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3" imgW="380944" imgH="514163" progId="Package">
                  <p:embed/>
                </p:oleObj>
              </mc:Choice>
              <mc:Fallback>
                <p:oleObj name="包装程序外壳对象" showAsIcon="1" r:id="rId3" imgW="380944" imgH="51416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8295" y="3709278"/>
                        <a:ext cx="3810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4E3FC25B-96D1-A780-B0C7-573BC5870F6E}"/>
              </a:ext>
            </a:extLst>
          </p:cNvPr>
          <p:cNvSpPr/>
          <p:nvPr/>
        </p:nvSpPr>
        <p:spPr>
          <a:xfrm>
            <a:off x="2681205" y="4746989"/>
            <a:ext cx="2861465" cy="1351781"/>
          </a:xfrm>
          <a:prstGeom prst="wedgeRoundRectCallout">
            <a:avLst>
              <a:gd name="adj1" fmla="val -60427"/>
              <a:gd name="adj2" fmla="val -51930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高度是 </a:t>
            </a:r>
            <a:r>
              <a:rPr lang="en-US" altLang="zh-CN" dirty="0">
                <a:solidFill>
                  <a:schemeClr val="tx1"/>
                </a:solidFill>
              </a:rPr>
              <a:t>y=18 </a:t>
            </a:r>
            <a:r>
              <a:rPr lang="zh-CN" altLang="en-US" dirty="0">
                <a:solidFill>
                  <a:schemeClr val="tx1"/>
                </a:solidFill>
              </a:rPr>
              <a:t>而不是 </a:t>
            </a:r>
            <a:r>
              <a:rPr lang="en-US" altLang="zh-CN" dirty="0">
                <a:solidFill>
                  <a:schemeClr val="tx1"/>
                </a:solidFill>
              </a:rPr>
              <a:t>y=17</a:t>
            </a: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我们对实际值</a:t>
            </a:r>
            <a:r>
              <a:rPr lang="en-US" altLang="zh-CN" dirty="0">
                <a:solidFill>
                  <a:schemeClr val="tx1"/>
                </a:solidFill>
              </a:rPr>
              <a:t>81.7</a:t>
            </a:r>
            <a:r>
              <a:rPr lang="zh-CN" altLang="en-US" dirty="0">
                <a:solidFill>
                  <a:schemeClr val="tx1"/>
                </a:solidFill>
              </a:rPr>
              <a:t>向上取整为</a:t>
            </a:r>
            <a:r>
              <a:rPr lang="en-US" altLang="zh-CN" dirty="0">
                <a:solidFill>
                  <a:schemeClr val="tx1"/>
                </a:solidFill>
              </a:rPr>
              <a:t>82</a:t>
            </a:r>
            <a:r>
              <a:rPr lang="zh-CN" altLang="en-US" dirty="0">
                <a:solidFill>
                  <a:schemeClr val="tx1"/>
                </a:solidFill>
              </a:rPr>
              <a:t>，考虑到</a:t>
            </a:r>
            <a:r>
              <a:rPr lang="en-US" altLang="zh-CN" dirty="0">
                <a:solidFill>
                  <a:schemeClr val="tx1"/>
                </a:solidFill>
              </a:rPr>
              <a:t>83</a:t>
            </a:r>
            <a:r>
              <a:rPr lang="zh-CN" altLang="en-US" dirty="0">
                <a:solidFill>
                  <a:schemeClr val="tx1"/>
                </a:solidFill>
              </a:rPr>
              <a:t>时看起来过于偏下</a:t>
            </a:r>
            <a:endParaRPr lang="zh-SG" altLang="en-US" dirty="0">
              <a:solidFill>
                <a:schemeClr val="tx1"/>
              </a:solidFill>
            </a:endParaRP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EA5E4D96-606E-0425-0177-08EE1ED530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8248" y="4529121"/>
            <a:ext cx="809625" cy="952500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4CA892F9-7C13-AB89-68B8-652B84B529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0750" y="4529121"/>
            <a:ext cx="809625" cy="952500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9CA7AF19-7FBF-3EDC-62C1-93B9132BE7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93252" y="4529121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52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D60579E-1A57-EB25-DE2A-1CEC57131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SG" dirty="0"/>
              <a:t>(2) </a:t>
            </a:r>
            <a:r>
              <a:rPr lang="zh-CN" altLang="en-US" dirty="0"/>
              <a:t>继续对照</a:t>
            </a:r>
            <a:r>
              <a:rPr lang="en-US" altLang="zh-CN" dirty="0"/>
              <a:t>《</a:t>
            </a:r>
            <a:r>
              <a:rPr lang="zh-CN" altLang="en-US" dirty="0"/>
              <a:t>标准草案</a:t>
            </a:r>
            <a:r>
              <a:rPr lang="en-US" altLang="zh-CN" dirty="0"/>
              <a:t>》</a:t>
            </a:r>
            <a:r>
              <a:rPr lang="zh-CN" altLang="en-US" dirty="0"/>
              <a:t>文稿插图</a:t>
            </a:r>
            <a:endParaRPr lang="zh-SG" altLang="en-US" dirty="0"/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0A2DE461-96BA-434B-3450-65901D326F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883997"/>
            <a:ext cx="2171700" cy="1104900"/>
          </a:xfrm>
          <a:prstGeom prst="rect">
            <a:avLst/>
          </a:prstGeom>
        </p:spPr>
      </p:pic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65FFE503-9AD1-1A40-FA1C-68B4CB08B7B4}"/>
              </a:ext>
            </a:extLst>
          </p:cNvPr>
          <p:cNvSpPr/>
          <p:nvPr/>
        </p:nvSpPr>
        <p:spPr>
          <a:xfrm>
            <a:off x="1479982" y="3310449"/>
            <a:ext cx="1311166" cy="952500"/>
          </a:xfrm>
          <a:prstGeom prst="wedgeRoundRectCallout">
            <a:avLst>
              <a:gd name="adj1" fmla="val 14664"/>
              <a:gd name="adj2" fmla="val -6801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105BFAB-C131-0EE3-5079-90E513F864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516203"/>
              </p:ext>
            </p:extLst>
          </p:nvPr>
        </p:nvGraphicFramePr>
        <p:xfrm>
          <a:off x="1916490" y="3529524"/>
          <a:ext cx="4381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3" imgW="438011" imgH="514163" progId="Package">
                  <p:embed/>
                </p:oleObj>
              </mc:Choice>
              <mc:Fallback>
                <p:oleObj name="包装程序外壳对象" showAsIcon="1" r:id="rId3" imgW="438011" imgH="51416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6490" y="3529524"/>
                        <a:ext cx="4381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形 9">
            <a:extLst>
              <a:ext uri="{FF2B5EF4-FFF2-40B4-BE49-F238E27FC236}">
                <a16:creationId xmlns:a16="http://schemas.microsoft.com/office/drawing/2014/main" id="{93D9A288-F88C-50EE-7945-D1EE1C84CF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90950" y="1960197"/>
            <a:ext cx="952500" cy="952500"/>
          </a:xfrm>
          <a:prstGeom prst="rect">
            <a:avLst/>
          </a:prstGeom>
        </p:spPr>
      </p:pic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4A379C88-3D0F-F2D2-8274-5C32C3896B68}"/>
              </a:ext>
            </a:extLst>
          </p:cNvPr>
          <p:cNvSpPr/>
          <p:nvPr/>
        </p:nvSpPr>
        <p:spPr>
          <a:xfrm>
            <a:off x="3611617" y="3282508"/>
            <a:ext cx="1311166" cy="952500"/>
          </a:xfrm>
          <a:prstGeom prst="wedgeRoundRectCallout">
            <a:avLst>
              <a:gd name="adj1" fmla="val 14664"/>
              <a:gd name="adj2" fmla="val -6801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9A8BC28-D7A1-7663-BAFF-8E67F087B2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244910"/>
              </p:ext>
            </p:extLst>
          </p:nvPr>
        </p:nvGraphicFramePr>
        <p:xfrm>
          <a:off x="4048125" y="3529524"/>
          <a:ext cx="4381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6" imgW="438011" imgH="514163" progId="Package">
                  <p:embed/>
                </p:oleObj>
              </mc:Choice>
              <mc:Fallback>
                <p:oleObj name="包装程序外壳对象" showAsIcon="1" r:id="rId6" imgW="438011" imgH="51416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48125" y="3529524"/>
                        <a:ext cx="4381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63D2911F-E7D8-6F7B-5F6C-C22F725E3C7B}"/>
              </a:ext>
            </a:extLst>
          </p:cNvPr>
          <p:cNvSpPr/>
          <p:nvPr/>
        </p:nvSpPr>
        <p:spPr>
          <a:xfrm>
            <a:off x="3266830" y="4504517"/>
            <a:ext cx="2235121" cy="1030729"/>
          </a:xfrm>
          <a:prstGeom prst="wedgeRoundRectCallout">
            <a:avLst>
              <a:gd name="adj1" fmla="val 7306"/>
              <a:gd name="adj2" fmla="val -65253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红色是将 </a:t>
            </a:r>
            <a:r>
              <a:rPr lang="en-US" altLang="zh-CN" dirty="0" err="1">
                <a:solidFill>
                  <a:schemeClr val="tx1"/>
                </a:solidFill>
              </a:rPr>
              <a:t>inkscape</a:t>
            </a:r>
            <a:r>
              <a:rPr lang="en-US" altLang="zh-CN" dirty="0">
                <a:solidFill>
                  <a:schemeClr val="tx1"/>
                </a:solidFill>
              </a:rPr>
              <a:t> transform </a:t>
            </a:r>
            <a:r>
              <a:rPr lang="zh-CN" altLang="en-US" dirty="0">
                <a:solidFill>
                  <a:schemeClr val="tx1"/>
                </a:solidFill>
              </a:rPr>
              <a:t>修正成 </a:t>
            </a:r>
            <a:r>
              <a:rPr lang="en-US" altLang="zh-CN" dirty="0">
                <a:solidFill>
                  <a:schemeClr val="tx1"/>
                </a:solidFill>
              </a:rPr>
              <a:t>y scale=1 </a:t>
            </a:r>
            <a:r>
              <a:rPr lang="zh-CN" altLang="en-US" dirty="0">
                <a:solidFill>
                  <a:schemeClr val="tx1"/>
                </a:solidFill>
              </a:rPr>
              <a:t>的版本</a:t>
            </a:r>
            <a:endParaRPr lang="zh-SG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58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Words>165</Words>
  <Application>Microsoft Office PowerPoint</Application>
  <PresentationFormat>宽屏</PresentationFormat>
  <Paragraphs>12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Office 主题​​</vt:lpstr>
      <vt:lpstr>程序包</vt:lpstr>
      <vt:lpstr>上海地铁2025版线路号方块</vt:lpstr>
      <vt:lpstr>PowerPoint 演示文稿</vt:lpstr>
      <vt:lpstr>(1) 9&amp;15 from 市域机场线线路图</vt:lpstr>
      <vt:lpstr>(2) 对照《标准草案》文稿插图</vt:lpstr>
      <vt:lpstr>(2) 继续对照《标准草案》文稿插图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Umamichi Kagurazaka</dc:creator>
  <cp:lastModifiedBy>Umamichi Kagurazaka</cp:lastModifiedBy>
  <cp:revision>17</cp:revision>
  <dcterms:created xsi:type="dcterms:W3CDTF">2026-04-28T17:20:44Z</dcterms:created>
  <dcterms:modified xsi:type="dcterms:W3CDTF">2026-04-28T20:47:48Z</dcterms:modified>
</cp:coreProperties>
</file>